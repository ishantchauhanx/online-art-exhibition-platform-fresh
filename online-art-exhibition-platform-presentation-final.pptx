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 Avenir Next Arabic Bold" charset="1" panose="020B0803020202020204"/>
      <p:regular r:id="rId21"/>
    </p:embeddedFont>
    <p:embeddedFont>
      <p:font typeface="DM Serif Display" charset="1" panose="00000000000000000000"/>
      <p:regular r:id="rId22"/>
    </p:embeddedFont>
    <p:embeddedFont>
      <p:font typeface="IBM Plex Mono" charset="1" panose="020B0509050203000203"/>
      <p:regular r:id="rId23"/>
    </p:embeddedFont>
    <p:embeddedFont>
      <p:font typeface=" Avenir Next Arabic" charset="1" panose="020B0503020202020204"/>
      <p:regular r:id="rId25"/>
    </p:embeddedFont>
    <p:embeddedFont>
      <p:font typeface="DM Serif Display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project focus: a Java Servlet/JSP web app for online art exhibitions, developed as an academic project for Review 1 evaluation.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Highlight the gap in accessible, role-driven online exhibition platforms and how this project addresses it.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Summarize key solution goals aligned with user needs and project scope.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Clarify which functionalities are confirmed from source and which remain future work.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Explain MVC realization and the request flow from JSP through Servlets and DAOs to the database.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Emphasize practical use of Java concepts aligned with rubric requirements.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Describe schema correctness and refer evaluators to the README.md schema section.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Focus on source-confirmed workflows; note that purchase and upload remain unverified.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Acknowledge strengths and limitations transparently, based only on source evidence.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Set realistic expectations about current status and testing coverage.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Guide evaluators to concrete source-code evidence for each rubric category.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with appreciation and commitment to ongoing development toward production standards.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9000" y="0"/>
            <a:ext cx="7239000" cy="10287000"/>
          </a:xfrm>
          <a:custGeom>
            <a:avLst/>
            <a:gdLst/>
            <a:ahLst/>
            <a:cxnLst/>
            <a:rect r="r" b="b" t="t" l="l"/>
            <a:pathLst>
              <a:path h="10287000" w="7239000">
                <a:moveTo>
                  <a:pt x="0" y="0"/>
                </a:moveTo>
                <a:lnTo>
                  <a:pt x="7239000" y="0"/>
                </a:lnTo>
                <a:lnTo>
                  <a:pt x="7239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" t="0" r="-3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477500" y="0"/>
            <a:ext cx="7810500" cy="10287000"/>
            <a:chOff x="0" y="0"/>
            <a:chExt cx="1041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1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321">
                <a:alpha val="2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41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0600" y="6667500"/>
            <a:ext cx="952500" cy="47625"/>
            <a:chOff x="0" y="0"/>
            <a:chExt cx="1270000" cy="6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000" cy="63500"/>
            </a:xfrm>
            <a:custGeom>
              <a:avLst/>
              <a:gdLst/>
              <a:ahLst/>
              <a:cxnLst/>
              <a:rect r="r" b="b" t="t" l="l"/>
              <a:pathLst>
                <a:path h="635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B9634C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0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0600" y="1047750"/>
            <a:ext cx="857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GALgotias UNIVERSITY  ×  GUVI BATCH 2029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2324100"/>
            <a:ext cx="9810750" cy="20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>
                <a:solidFill>
                  <a:srgbClr val="FFFAF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Online Art</a:t>
            </a:r>
          </a:p>
          <a:p>
            <a:pPr algn="l">
              <a:lnSpc>
                <a:spcPts val="7956"/>
              </a:lnSpc>
            </a:pPr>
            <a:r>
              <a:rPr lang="en-US" sz="7800">
                <a:solidFill>
                  <a:srgbClr val="FFFAF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Exhibition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7000875"/>
            <a:ext cx="342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D9D2C8"/>
                </a:solidFill>
                <a:latin typeface="IBM Plex Mono"/>
                <a:ea typeface="IBM Plex Mono"/>
                <a:cs typeface="IBM Plex Mono"/>
                <a:sym typeface="IBM Plex Mono"/>
              </a:rPr>
              <a:t>OCTOBER 7,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8905875"/>
            <a:ext cx="8763000" cy="205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D9D2C8"/>
                </a:solidFill>
                <a:latin typeface="IBM Plex Mono"/>
                <a:ea typeface="IBM Plex Mono"/>
                <a:cs typeface="IBM Plex Mono"/>
                <a:sym typeface="IBM Plex Mono"/>
              </a:rPr>
              <a:t>github.com/ishantchauhanx/online-art-exhibition-platform-fresh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 REVIEW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FFFAF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90600" y="781050"/>
            <a:ext cx="3810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01  /  CONTEXT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0600" y="1504950"/>
            <a:ext cx="8572500" cy="80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Art needs a wider room.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600" y="3543300"/>
            <a:ext cx="8286750" cy="10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202321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Artists struggle to reach audiences and sell work online. Enthusiasts need curated discovery and meaningful feedback—not another generic marketplace.</a:t>
            </a:r>
          </a:p>
        </p:txBody>
      </p:sp>
      <p:sp>
        <p:nvSpPr>
          <p:cNvPr name="AutoShape 6" id="6"/>
          <p:cNvSpPr/>
          <p:nvPr/>
        </p:nvSpPr>
        <p:spPr>
          <a:xfrm>
            <a:off x="990600" y="6191250"/>
            <a:ext cx="8724900" cy="0"/>
          </a:xfrm>
          <a:prstGeom prst="line">
            <a:avLst/>
          </a:prstGeom>
          <a:ln cap="flat" w="19050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90600" y="6543675"/>
            <a:ext cx="22860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55F61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ARTISTS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14750" y="6543675"/>
            <a:ext cx="31432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ENTHUSIASTS / BUYERS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6625" y="6543675"/>
            <a:ext cx="2476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321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ADMINISTRATORS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7915275"/>
            <a:ext cx="7810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true">
                <a:solidFill>
                  <a:srgbClr val="746F67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A role-driven exhibition space connects creation, curation, and response.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66750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02  /  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04925"/>
            <a:ext cx="142875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One platform. Three purposeful views.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3000375"/>
            <a:ext cx="4857750" cy="4524375"/>
            <a:chOff x="0" y="0"/>
            <a:chExt cx="6477000" cy="6032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477000" cy="6032500"/>
              <a:chOff x="0" y="0"/>
              <a:chExt cx="6477000" cy="6032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477000" cy="6032500"/>
              </a:xfrm>
              <a:custGeom>
                <a:avLst/>
                <a:gdLst/>
                <a:ahLst/>
                <a:cxnLst/>
                <a:rect r="r" b="b" t="t" l="l"/>
                <a:pathLst>
                  <a:path h="60325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6032500"/>
                    </a:lnTo>
                    <a:lnTo>
                      <a:pt x="0" y="6032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477000" cy="6070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82600" y="488950"/>
              <a:ext cx="533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B9634C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ARTIST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2600" y="1349375"/>
              <a:ext cx="5334000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202321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Upload &amp; manage artwork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600" y="3292475"/>
              <a:ext cx="5334000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Implemented in source: ArtworkUploadServlet.java</a:t>
              </a:r>
            </a:p>
            <a:p>
              <a:pPr algn="l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Runtime testing: owner-confirmed evidence only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3000375"/>
            <a:ext cx="4857750" cy="4048125"/>
            <a:chOff x="0" y="0"/>
            <a:chExt cx="6477000" cy="5397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477000" cy="5397500"/>
              <a:chOff x="0" y="0"/>
              <a:chExt cx="6477000" cy="5397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477000" cy="5397500"/>
              </a:xfrm>
              <a:custGeom>
                <a:avLst/>
                <a:gdLst/>
                <a:ahLst/>
                <a:cxnLst/>
                <a:rect r="r" b="b" t="t" l="l"/>
                <a:pathLst>
                  <a:path h="53975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5397500"/>
                    </a:lnTo>
                    <a:lnTo>
                      <a:pt x="0" y="5397500"/>
                    </a:lnTo>
                    <a:close/>
                  </a:path>
                </a:pathLst>
              </a:custGeom>
              <a:solidFill>
                <a:srgbClr val="E1ECE8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477000" cy="543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2600" y="488950"/>
              <a:ext cx="533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55F6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ENTHUSIAST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2600" y="1349375"/>
              <a:ext cx="5334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202321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Browse &amp; give feedback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2600" y="3292475"/>
              <a:ext cx="5334000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Gallery + feedback: source verified</a:t>
              </a:r>
            </a:p>
            <a:p>
              <a:pPr algn="l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CheckoutServlet.java: implemented in source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49100" y="3000375"/>
            <a:ext cx="4857750" cy="4286250"/>
            <a:chOff x="0" y="0"/>
            <a:chExt cx="6477000" cy="5715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477000" cy="5715000"/>
              <a:chOff x="0" y="0"/>
              <a:chExt cx="6477000" cy="5715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4770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4770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488950"/>
              <a:ext cx="5334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B9634C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ADMIN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2600" y="1349375"/>
              <a:ext cx="5334000" cy="59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202321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Govern platform content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3292475"/>
              <a:ext cx="5334000" cy="949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AdminApprovalServlet.java: implemented in source</a:t>
              </a:r>
            </a:p>
            <a:p>
              <a:pPr algn="l" marL="0" indent="0" lvl="0">
                <a:lnSpc>
                  <a:spcPts val="1875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Runtime testing: not documented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600" y="7762875"/>
            <a:ext cx="16306800" cy="1000125"/>
            <a:chOff x="0" y="0"/>
            <a:chExt cx="21742400" cy="1333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1742400" cy="1333500"/>
              <a:chOff x="0" y="0"/>
              <a:chExt cx="21742400" cy="1333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742400" cy="1333500"/>
              </a:xfrm>
              <a:custGeom>
                <a:avLst/>
                <a:gdLst/>
                <a:ahLst/>
                <a:cxnLst/>
                <a:rect r="r" b="b" t="t" l="l"/>
                <a:pathLst>
                  <a:path h="1333500" w="21742400">
                    <a:moveTo>
                      <a:pt x="0" y="0"/>
                    </a:moveTo>
                    <a:lnTo>
                      <a:pt x="21742400" y="0"/>
                    </a:lnTo>
                    <a:lnTo>
                      <a:pt x="21742400" y="1333500"/>
                    </a:lnTo>
                    <a:lnTo>
                      <a:pt x="0" y="1333500"/>
                    </a:lnTo>
                    <a:close/>
                  </a:path>
                </a:pathLst>
              </a:custGeom>
              <a:solidFill>
                <a:srgbClr val="155F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21742400" cy="137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838200" y="368300"/>
              <a:ext cx="20066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Shared foundation: role-based access  •  session management  •  JDBC with PreparedStatement  •  feedback collection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04850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03  /  SCOPE CONTROL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81125"/>
            <a:ext cx="13811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AF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What works—and what comes next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53500" y="3143250"/>
            <a:ext cx="19050" cy="4095750"/>
            <a:chOff x="0" y="0"/>
            <a:chExt cx="25400" cy="5461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00" cy="5461000"/>
            </a:xfrm>
            <a:custGeom>
              <a:avLst/>
              <a:gdLst/>
              <a:ahLst/>
              <a:cxnLst/>
              <a:rect r="r" b="b" t="t" l="l"/>
              <a:pathLst>
                <a:path h="5461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5D605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400" cy="549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33500" y="33147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87BDB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VERIFIED IN SOURCE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0" y="33147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b="true" sz="1350" spc="162" strike="noStrike" u="non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RUNTIME STATUS / EVIDENCE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500" y="4086225"/>
            <a:ext cx="6191250" cy="153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LoginServlet role routing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GalleryServlet available-artwork loading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FeedbackServlet validation + submission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ArtworkUploadServlet.java — implemented in source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CheckoutServlet.java — implemented in source</a:t>
            </a:r>
          </a:p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AdminApprovalServlet.java — implemented in source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0" y="4076700"/>
            <a:ext cx="6191250" cy="161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Source implementation does not prove runtime success</a:t>
            </a:r>
          </a:p>
          <a:p>
            <a:pPr algn="l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Owner report: application now works</a:t>
            </a:r>
          </a:p>
          <a:p>
            <a:pPr algn="l" marL="0" indent="0" lvl="0">
              <a:lnSpc>
                <a:spcPts val="26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Workflow-by-workflow test evidence: not independently documented.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19500" y="8324850"/>
            <a:ext cx="11049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i="true">
                <a:solidFill>
                  <a:srgbClr val="D9D2C8"/>
                </a:solidFill>
                <a:latin typeface="DM Serif Display Italics"/>
                <a:ea typeface="DM Serif Display Italics"/>
                <a:cs typeface="DM Serif Display Italics"/>
                <a:sym typeface="DM Serif Display Italics"/>
              </a:rPr>
              <a:t>Evidence labels protect the review from over-claiming implementation status.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FFFAF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00075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04  / 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09675"/>
            <a:ext cx="13811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MVC, with a disciplined data path</a:t>
            </a:r>
          </a:p>
        </p:txBody>
      </p:sp>
      <p:sp>
        <p:nvSpPr>
          <p:cNvPr name="AutoShape 4" id="4"/>
          <p:cNvSpPr/>
          <p:nvPr/>
        </p:nvSpPr>
        <p:spPr>
          <a:xfrm>
            <a:off x="3905250" y="3667125"/>
            <a:ext cx="1047750" cy="0"/>
          </a:xfrm>
          <a:prstGeom prst="line">
            <a:avLst/>
          </a:prstGeom>
          <a:ln cap="rnd" w="38100">
            <a:solidFill>
              <a:srgbClr val="B963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382000" y="3667125"/>
            <a:ext cx="1047750" cy="0"/>
          </a:xfrm>
          <a:prstGeom prst="line">
            <a:avLst/>
          </a:prstGeom>
          <a:ln cap="rnd" w="38100">
            <a:solidFill>
              <a:srgbClr val="B963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2287250" y="3667125"/>
            <a:ext cx="1047750" cy="0"/>
          </a:xfrm>
          <a:prstGeom prst="line">
            <a:avLst/>
          </a:prstGeom>
          <a:ln cap="rnd" w="38100">
            <a:solidFill>
              <a:srgbClr val="155F6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1620500" y="4381500"/>
            <a:ext cx="3238500" cy="1809750"/>
          </a:xfrm>
          <a:prstGeom prst="line">
            <a:avLst/>
          </a:prstGeom>
          <a:ln cap="rnd" w="38100">
            <a:solidFill>
              <a:srgbClr val="155F6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47750" y="2952750"/>
            <a:ext cx="2857500" cy="1428750"/>
            <a:chOff x="0" y="0"/>
            <a:chExt cx="3810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862667"/>
                  </a:lnTo>
                  <a:cubicBezTo>
                    <a:pt x="3810000" y="1873894"/>
                    <a:pt x="3805540" y="1884662"/>
                    <a:pt x="3797601" y="1892601"/>
                  </a:cubicBezTo>
                  <a:cubicBezTo>
                    <a:pt x="3789662" y="1900540"/>
                    <a:pt x="3778894" y="1905000"/>
                    <a:pt x="3767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JSP / JSTL VIEWS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gallery.jsp • login.jsp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53000" y="2952750"/>
            <a:ext cx="3429000" cy="1428750"/>
            <a:chOff x="0" y="0"/>
            <a:chExt cx="4572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572000">
                  <a:moveTo>
                    <a:pt x="35278" y="0"/>
                  </a:moveTo>
                  <a:lnTo>
                    <a:pt x="4536722" y="0"/>
                  </a:lnTo>
                  <a:cubicBezTo>
                    <a:pt x="4556206" y="0"/>
                    <a:pt x="4572000" y="15794"/>
                    <a:pt x="4572000" y="35278"/>
                  </a:cubicBezTo>
                  <a:lnTo>
                    <a:pt x="4572000" y="1869722"/>
                  </a:lnTo>
                  <a:cubicBezTo>
                    <a:pt x="4572000" y="1889206"/>
                    <a:pt x="4556206" y="1905000"/>
                    <a:pt x="4536722" y="1905000"/>
                  </a:cubicBezTo>
                  <a:lnTo>
                    <a:pt x="35278" y="1905000"/>
                  </a:lnTo>
                  <a:cubicBezTo>
                    <a:pt x="15794" y="1905000"/>
                    <a:pt x="0" y="1889206"/>
                    <a:pt x="0" y="1869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B963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572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CONTROLLERS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Login • Gallery • Feedback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29750" y="2952750"/>
            <a:ext cx="2857500" cy="1428750"/>
            <a:chOff x="0" y="0"/>
            <a:chExt cx="3810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862667"/>
                  </a:lnTo>
                  <a:cubicBezTo>
                    <a:pt x="3810000" y="1873894"/>
                    <a:pt x="3805540" y="1884662"/>
                    <a:pt x="3797601" y="1892601"/>
                  </a:cubicBezTo>
                  <a:cubicBezTo>
                    <a:pt x="3789662" y="1900540"/>
                    <a:pt x="3778894" y="1905000"/>
                    <a:pt x="3767667" y="1905000"/>
                  </a:cubicBezTo>
                  <a:lnTo>
                    <a:pt x="42333" y="1905000"/>
                  </a:lnTo>
                  <a:cubicBezTo>
                    <a:pt x="31106" y="1905000"/>
                    <a:pt x="20338" y="1900540"/>
                    <a:pt x="12399" y="1892601"/>
                  </a:cubicBezTo>
                  <a:cubicBezTo>
                    <a:pt x="4460" y="1884662"/>
                    <a:pt x="0" y="1873894"/>
                    <a:pt x="0" y="1862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DOMAIN MODEL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User • Artwork • Feedback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35000" y="2952750"/>
            <a:ext cx="3048000" cy="1428750"/>
            <a:chOff x="0" y="0"/>
            <a:chExt cx="4064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064000">
                  <a:moveTo>
                    <a:pt x="39688" y="0"/>
                  </a:moveTo>
                  <a:lnTo>
                    <a:pt x="4024312" y="0"/>
                  </a:lnTo>
                  <a:cubicBezTo>
                    <a:pt x="4046231" y="0"/>
                    <a:pt x="4064000" y="17769"/>
                    <a:pt x="4064000" y="39688"/>
                  </a:cubicBezTo>
                  <a:lnTo>
                    <a:pt x="4064000" y="1865312"/>
                  </a:lnTo>
                  <a:cubicBezTo>
                    <a:pt x="4064000" y="1887231"/>
                    <a:pt x="4046231" y="1905000"/>
                    <a:pt x="4024312" y="1905000"/>
                  </a:cubicBezTo>
                  <a:lnTo>
                    <a:pt x="39688" y="1905000"/>
                  </a:lnTo>
                  <a:cubicBezTo>
                    <a:pt x="17769" y="1905000"/>
                    <a:pt x="0" y="1887231"/>
                    <a:pt x="0" y="1865312"/>
                  </a:cubicBezTo>
                  <a:lnTo>
                    <a:pt x="0" y="39688"/>
                  </a:lnTo>
                  <a:cubicBezTo>
                    <a:pt x="0" y="17769"/>
                    <a:pt x="17769" y="0"/>
                    <a:pt x="39688" y="0"/>
                  </a:cubicBezTo>
                  <a:close/>
                </a:path>
              </a:pathLst>
            </a:custGeom>
            <a:solidFill>
              <a:srgbClr val="155F61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4064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DAO / JDBC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ArtworkDAO • FeedbackDAO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67500" y="6191250"/>
            <a:ext cx="4953000" cy="1238250"/>
            <a:chOff x="0" y="0"/>
            <a:chExt cx="6604000" cy="1651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6604000">
                  <a:moveTo>
                    <a:pt x="24423" y="0"/>
                  </a:moveTo>
                  <a:lnTo>
                    <a:pt x="6579577" y="0"/>
                  </a:lnTo>
                  <a:cubicBezTo>
                    <a:pt x="6586055" y="0"/>
                    <a:pt x="6592267" y="2573"/>
                    <a:pt x="6596847" y="7153"/>
                  </a:cubicBezTo>
                  <a:cubicBezTo>
                    <a:pt x="6601427" y="11734"/>
                    <a:pt x="6604000" y="17946"/>
                    <a:pt x="6604000" y="24423"/>
                  </a:cubicBezTo>
                  <a:lnTo>
                    <a:pt x="6604000" y="1626577"/>
                  </a:lnTo>
                  <a:cubicBezTo>
                    <a:pt x="6604000" y="1633054"/>
                    <a:pt x="6601427" y="1639266"/>
                    <a:pt x="6596847" y="1643847"/>
                  </a:cubicBezTo>
                  <a:cubicBezTo>
                    <a:pt x="6592267" y="1648427"/>
                    <a:pt x="6586055" y="1651000"/>
                    <a:pt x="6579577" y="1651000"/>
                  </a:cubicBezTo>
                  <a:lnTo>
                    <a:pt x="24423" y="1651000"/>
                  </a:lnTo>
                  <a:cubicBezTo>
                    <a:pt x="17946" y="1651000"/>
                    <a:pt x="11734" y="1648427"/>
                    <a:pt x="7153" y="1643847"/>
                  </a:cubicBezTo>
                  <a:cubicBezTo>
                    <a:pt x="2573" y="1639266"/>
                    <a:pt x="0" y="1633054"/>
                    <a:pt x="0" y="1626577"/>
                  </a:cubicBezTo>
                  <a:lnTo>
                    <a:pt x="0" y="24423"/>
                  </a:lnTo>
                  <a:cubicBezTo>
                    <a:pt x="0" y="17946"/>
                    <a:pt x="2573" y="11734"/>
                    <a:pt x="7153" y="7153"/>
                  </a:cubicBezTo>
                  <a:cubicBezTo>
                    <a:pt x="11734" y="2573"/>
                    <a:pt x="17946" y="0"/>
                    <a:pt x="24423" y="0"/>
                  </a:cubicBezTo>
                  <a:close/>
                </a:path>
              </a:pathLst>
            </a:custGeom>
            <a:solidFill>
              <a:srgbClr val="202321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6604000" cy="163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DBConnection SINGLETON  →  MySQL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environment-based credentials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0600" y="8734425"/>
            <a:ext cx="14287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746F67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Request → servlet → model/DAO → MySQL; response returns through JSP/JSTL.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00075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05  /  CORE JAVA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09675"/>
            <a:ext cx="142875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Concepts demonstrated in working code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857500"/>
            <a:ext cx="4953000" cy="2333625"/>
            <a:chOff x="0" y="0"/>
            <a:chExt cx="6604000" cy="3111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55600" y="3365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B9634C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OOP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55600" y="1012825"/>
              <a:ext cx="5969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55F6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User • Artwork • Feedback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55600" y="18224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Domain objects model platform state.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850" y="2857500"/>
            <a:ext cx="4953000" cy="2333625"/>
            <a:chOff x="0" y="0"/>
            <a:chExt cx="6604000" cy="3111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55600" y="3365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55F6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INTERFACE + GENERICS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5600" y="1012825"/>
              <a:ext cx="5969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55F6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Repository&lt;Artwork&gt;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5600" y="18224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ArtworkDAO implements a typed contract.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49100" y="2857500"/>
            <a:ext cx="4953000" cy="2333625"/>
            <a:chOff x="0" y="0"/>
            <a:chExt cx="6604000" cy="3111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5600" y="3365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B9634C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COLLECTIONS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1012825"/>
              <a:ext cx="5969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55F6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List&lt;Artwork&gt; • ArrayList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5600" y="18224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Query results move cleanly to views.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600" y="5715000"/>
            <a:ext cx="4953000" cy="2333625"/>
            <a:chOff x="0" y="0"/>
            <a:chExt cx="6604000" cy="3111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55600" y="3365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55F6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EXCEPTIONS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5600" y="1012825"/>
              <a:ext cx="5969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55F6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try-with-resources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5600" y="1822450"/>
              <a:ext cx="596900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SQLException, ServletException, DatabaseException.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19850" y="5715000"/>
            <a:ext cx="4953000" cy="2333625"/>
            <a:chOff x="0" y="0"/>
            <a:chExt cx="6604000" cy="31115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55600" y="3365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B9634C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VALIDATION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5600" y="1012825"/>
              <a:ext cx="5969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55F6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ValidationUtil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55600" y="18224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Email, rating and numeric checks.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49100" y="5715000"/>
            <a:ext cx="4953000" cy="2333625"/>
            <a:chOff x="0" y="0"/>
            <a:chExt cx="6604000" cy="31115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604000" cy="3111500"/>
              <a:chOff x="0" y="0"/>
              <a:chExt cx="6604000" cy="31115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604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604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55600" y="336550"/>
              <a:ext cx="5969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55F6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JDBC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55600" y="1012825"/>
              <a:ext cx="5969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55F61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PreparedStatement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55600" y="1822450"/>
              <a:ext cx="5969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Parameterized SQL reduces injection risk.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52450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06  /  DATABASE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162050"/>
            <a:ext cx="15716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FFFAF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Relational structure for art, access, and exchange</a:t>
            </a:r>
          </a:p>
        </p:txBody>
      </p:sp>
      <p:sp>
        <p:nvSpPr>
          <p:cNvPr name="AutoShape 4" id="4"/>
          <p:cNvSpPr/>
          <p:nvPr/>
        </p:nvSpPr>
        <p:spPr>
          <a:xfrm>
            <a:off x="4381500" y="3571875"/>
            <a:ext cx="1095375" cy="0"/>
          </a:xfrm>
          <a:prstGeom prst="line">
            <a:avLst/>
          </a:prstGeom>
          <a:ln cap="rnd" w="28575">
            <a:solidFill>
              <a:srgbClr val="8E9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714625" y="4286250"/>
            <a:ext cx="0" cy="1905000"/>
          </a:xfrm>
          <a:prstGeom prst="line">
            <a:avLst/>
          </a:prstGeom>
          <a:ln cap="rnd" w="28575">
            <a:solidFill>
              <a:srgbClr val="8E9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381500" y="7000875"/>
            <a:ext cx="1095375" cy="0"/>
          </a:xfrm>
          <a:prstGeom prst="line">
            <a:avLst/>
          </a:prstGeom>
          <a:ln cap="rnd" w="28575">
            <a:solidFill>
              <a:srgbClr val="8E9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810625" y="3667125"/>
            <a:ext cx="1571625" cy="0"/>
          </a:xfrm>
          <a:prstGeom prst="line">
            <a:avLst/>
          </a:prstGeom>
          <a:ln cap="rnd" w="28575">
            <a:solidFill>
              <a:srgbClr val="8E9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810625" y="7000875"/>
            <a:ext cx="1571625" cy="0"/>
          </a:xfrm>
          <a:prstGeom prst="line">
            <a:avLst/>
          </a:prstGeom>
          <a:ln cap="rnd" w="28575">
            <a:solidFill>
              <a:srgbClr val="8E93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001500" y="4667250"/>
            <a:ext cx="0" cy="1524000"/>
          </a:xfrm>
          <a:prstGeom prst="line">
            <a:avLst/>
          </a:prstGeom>
          <a:ln cap="rnd" w="28575">
            <a:solidFill>
              <a:srgbClr val="8E93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47750" y="2857500"/>
            <a:ext cx="3333750" cy="1428750"/>
            <a:chOff x="0" y="0"/>
            <a:chExt cx="4445000" cy="190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44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868714"/>
                  </a:lnTo>
                  <a:cubicBezTo>
                    <a:pt x="4445000" y="1888754"/>
                    <a:pt x="4428754" y="1905000"/>
                    <a:pt x="4408714" y="1905000"/>
                  </a:cubicBezTo>
                  <a:lnTo>
                    <a:pt x="36286" y="1905000"/>
                  </a:lnTo>
                  <a:cubicBezTo>
                    <a:pt x="16246" y="1905000"/>
                    <a:pt x="0" y="1888754"/>
                    <a:pt x="0" y="1868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B963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4445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USERS</a:t>
              </a:r>
            </a:p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PK user_id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76875" y="2857500"/>
            <a:ext cx="3333750" cy="1619250"/>
            <a:chOff x="0" y="0"/>
            <a:chExt cx="4445000" cy="215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44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122714"/>
                  </a:lnTo>
                  <a:cubicBezTo>
                    <a:pt x="4445000" y="2142754"/>
                    <a:pt x="4428754" y="2159000"/>
                    <a:pt x="4408714" y="2159000"/>
                  </a:cubicBezTo>
                  <a:lnTo>
                    <a:pt x="36286" y="2159000"/>
                  </a:lnTo>
                  <a:cubicBezTo>
                    <a:pt x="16246" y="2159000"/>
                    <a:pt x="0" y="2142754"/>
                    <a:pt x="0" y="2122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ARTWORKS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PK art_id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FK artist_id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7750" y="6191250"/>
            <a:ext cx="3333750" cy="1619250"/>
            <a:chOff x="0" y="0"/>
            <a:chExt cx="4445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44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2122714"/>
                  </a:lnTo>
                  <a:cubicBezTo>
                    <a:pt x="4445000" y="2142754"/>
                    <a:pt x="4428754" y="2159000"/>
                    <a:pt x="4408714" y="2159000"/>
                  </a:cubicBezTo>
                  <a:lnTo>
                    <a:pt x="36286" y="2159000"/>
                  </a:lnTo>
                  <a:cubicBezTo>
                    <a:pt x="16246" y="2159000"/>
                    <a:pt x="0" y="2142754"/>
                    <a:pt x="0" y="2122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EXHIBITIONS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PK exhibit_id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FK created_by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76875" y="6191250"/>
            <a:ext cx="3333750" cy="1428750"/>
            <a:chOff x="0" y="0"/>
            <a:chExt cx="4445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445000">
                  <a:moveTo>
                    <a:pt x="36286" y="0"/>
                  </a:moveTo>
                  <a:lnTo>
                    <a:pt x="4408714" y="0"/>
                  </a:lnTo>
                  <a:cubicBezTo>
                    <a:pt x="4428754" y="0"/>
                    <a:pt x="4445000" y="16246"/>
                    <a:pt x="4445000" y="36286"/>
                  </a:cubicBezTo>
                  <a:lnTo>
                    <a:pt x="4445000" y="1868714"/>
                  </a:lnTo>
                  <a:cubicBezTo>
                    <a:pt x="4445000" y="1888754"/>
                    <a:pt x="4428754" y="1905000"/>
                    <a:pt x="4408714" y="1905000"/>
                  </a:cubicBezTo>
                  <a:lnTo>
                    <a:pt x="36286" y="1905000"/>
                  </a:lnTo>
                  <a:cubicBezTo>
                    <a:pt x="16246" y="1905000"/>
                    <a:pt x="0" y="1888754"/>
                    <a:pt x="0" y="1868714"/>
                  </a:cubicBezTo>
                  <a:lnTo>
                    <a:pt x="0" y="36286"/>
                  </a:lnTo>
                  <a:cubicBezTo>
                    <a:pt x="0" y="16246"/>
                    <a:pt x="16246" y="0"/>
                    <a:pt x="36286" y="0"/>
                  </a:cubicBezTo>
                  <a:close/>
                </a:path>
              </a:pathLst>
            </a:custGeom>
            <a:solidFill>
              <a:srgbClr val="155F61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445000" cy="1905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55"/>
                </a:lnSpc>
                <a:spcBef>
                  <a:spcPct val="0"/>
                </a:spcBef>
              </a:pPr>
              <a:r>
                <a:rPr lang="en-US" b="true" sz="1700" strike="noStrike" u="non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EXHIBITION_ARTWORKS</a:t>
              </a:r>
            </a:p>
            <a:p>
              <a:pPr algn="ctr" marL="0" indent="0" lvl="0">
                <a:lnSpc>
                  <a:spcPts val="1955"/>
                </a:lnSpc>
                <a:spcBef>
                  <a:spcPct val="0"/>
                </a:spcBef>
              </a:pPr>
              <a:r>
                <a:rPr lang="en-US" b="true" sz="1700" strike="noStrike" u="non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PK (exhibit_id, art_id)  •  FK exhibit_id, art_id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382250" y="2857500"/>
            <a:ext cx="3238500" cy="1809750"/>
            <a:chOff x="0" y="0"/>
            <a:chExt cx="4318000" cy="241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1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2375647"/>
                  </a:lnTo>
                  <a:cubicBezTo>
                    <a:pt x="4318000" y="2385554"/>
                    <a:pt x="4314065" y="2395055"/>
                    <a:pt x="4307060" y="2402060"/>
                  </a:cubicBezTo>
                  <a:cubicBezTo>
                    <a:pt x="4300055" y="2409065"/>
                    <a:pt x="4290554" y="2413000"/>
                    <a:pt x="4280647" y="2413000"/>
                  </a:cubicBezTo>
                  <a:lnTo>
                    <a:pt x="37353" y="2413000"/>
                  </a:lnTo>
                  <a:cubicBezTo>
                    <a:pt x="27446" y="2413000"/>
                    <a:pt x="17945" y="2409065"/>
                    <a:pt x="10940" y="2402060"/>
                  </a:cubicBezTo>
                  <a:cubicBezTo>
                    <a:pt x="3935" y="2395055"/>
                    <a:pt x="0" y="2385554"/>
                    <a:pt x="0" y="2375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4318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ORDERS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FK buyer_id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FK artwork_id → artworks.art_id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382250" y="6191250"/>
            <a:ext cx="3238500" cy="1809750"/>
            <a:chOff x="0" y="0"/>
            <a:chExt cx="4318000" cy="241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1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318000">
                  <a:moveTo>
                    <a:pt x="37353" y="0"/>
                  </a:moveTo>
                  <a:lnTo>
                    <a:pt x="4280647" y="0"/>
                  </a:lnTo>
                  <a:cubicBezTo>
                    <a:pt x="4290554" y="0"/>
                    <a:pt x="4300055" y="3935"/>
                    <a:pt x="4307060" y="10940"/>
                  </a:cubicBezTo>
                  <a:cubicBezTo>
                    <a:pt x="4314065" y="17945"/>
                    <a:pt x="4318000" y="27446"/>
                    <a:pt x="4318000" y="37353"/>
                  </a:cubicBezTo>
                  <a:lnTo>
                    <a:pt x="4318000" y="2375647"/>
                  </a:lnTo>
                  <a:cubicBezTo>
                    <a:pt x="4318000" y="2385554"/>
                    <a:pt x="4314065" y="2395055"/>
                    <a:pt x="4307060" y="2402060"/>
                  </a:cubicBezTo>
                  <a:cubicBezTo>
                    <a:pt x="4300055" y="2409065"/>
                    <a:pt x="4290554" y="2413000"/>
                    <a:pt x="4280647" y="2413000"/>
                  </a:cubicBezTo>
                  <a:lnTo>
                    <a:pt x="37353" y="2413000"/>
                  </a:lnTo>
                  <a:cubicBezTo>
                    <a:pt x="27446" y="2413000"/>
                    <a:pt x="17945" y="2409065"/>
                    <a:pt x="10940" y="2402060"/>
                  </a:cubicBezTo>
                  <a:cubicBezTo>
                    <a:pt x="3935" y="2395055"/>
                    <a:pt x="0" y="2385554"/>
                    <a:pt x="0" y="2375647"/>
                  </a:cubicBezTo>
                  <a:lnTo>
                    <a:pt x="0" y="37353"/>
                  </a:lnTo>
                  <a:cubicBezTo>
                    <a:pt x="0" y="27446"/>
                    <a:pt x="3935" y="17945"/>
                    <a:pt x="10940" y="10940"/>
                  </a:cubicBezTo>
                  <a:cubicBezTo>
                    <a:pt x="17945" y="3935"/>
                    <a:pt x="27446" y="0"/>
                    <a:pt x="37353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4318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FEEDBACK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FK user_id</a:t>
              </a:r>
            </a:p>
            <a:p>
              <a:pPr algn="ctr" marL="0" indent="0" lvl="0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FK artwork_id → artworks.art_id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FFFAF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71500"/>
            <a:ext cx="5238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b="true" sz="1350" spc="162" strike="noStrike" u="non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07 / WORKFLOWS IMPLEMENTED IN SOURCE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190625"/>
            <a:ext cx="13811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Three paths confirmed by source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3095625"/>
            <a:ext cx="1428750" cy="952500"/>
            <a:chOff x="0" y="0"/>
            <a:chExt cx="1905000" cy="127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84667" y="0"/>
                  </a:moveTo>
                  <a:lnTo>
                    <a:pt x="1820333" y="0"/>
                  </a:lnTo>
                  <a:cubicBezTo>
                    <a:pt x="1867093" y="0"/>
                    <a:pt x="1905000" y="37907"/>
                    <a:pt x="1905000" y="84667"/>
                  </a:cubicBezTo>
                  <a:lnTo>
                    <a:pt x="1905000" y="1185333"/>
                  </a:lnTo>
                  <a:cubicBezTo>
                    <a:pt x="1905000" y="1232093"/>
                    <a:pt x="1867093" y="1270000"/>
                    <a:pt x="1820333" y="1270000"/>
                  </a:cubicBezTo>
                  <a:lnTo>
                    <a:pt x="84667" y="1270000"/>
                  </a:lnTo>
                  <a:cubicBezTo>
                    <a:pt x="37907" y="1270000"/>
                    <a:pt x="0" y="1232093"/>
                    <a:pt x="0" y="1185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B9634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90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LOGIN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5048250" y="35718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667000" y="3095625"/>
            <a:ext cx="2381250" cy="952500"/>
            <a:chOff x="0" y="0"/>
            <a:chExt cx="3175000" cy="127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Validate fields + email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8572500" y="35718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6191250" y="3095625"/>
            <a:ext cx="2381250" cy="952500"/>
            <a:chOff x="0" y="0"/>
            <a:chExt cx="3175000" cy="127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Check credentials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2096750" y="35718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9715500" y="3095625"/>
            <a:ext cx="2381250" cy="952500"/>
            <a:chOff x="0" y="0"/>
            <a:chExt cx="3175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Store HttpSession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39750" y="3095625"/>
            <a:ext cx="2381250" cy="952500"/>
            <a:chOff x="0" y="0"/>
            <a:chExt cx="3175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Redirect by role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0600" y="5191125"/>
            <a:ext cx="1428750" cy="952500"/>
            <a:chOff x="0" y="0"/>
            <a:chExt cx="1905000" cy="127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84667" y="0"/>
                  </a:moveTo>
                  <a:lnTo>
                    <a:pt x="1820333" y="0"/>
                  </a:lnTo>
                  <a:cubicBezTo>
                    <a:pt x="1867093" y="0"/>
                    <a:pt x="1905000" y="37907"/>
                    <a:pt x="1905000" y="84667"/>
                  </a:cubicBezTo>
                  <a:lnTo>
                    <a:pt x="1905000" y="1185333"/>
                  </a:lnTo>
                  <a:cubicBezTo>
                    <a:pt x="1905000" y="1232093"/>
                    <a:pt x="1867093" y="1270000"/>
                    <a:pt x="1820333" y="1270000"/>
                  </a:cubicBezTo>
                  <a:lnTo>
                    <a:pt x="84667" y="1270000"/>
                  </a:lnTo>
                  <a:cubicBezTo>
                    <a:pt x="37907" y="1270000"/>
                    <a:pt x="0" y="1232093"/>
                    <a:pt x="0" y="1185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55F6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90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GALLERY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5048250" y="56673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667000" y="5191125"/>
            <a:ext cx="2381250" cy="952500"/>
            <a:chOff x="0" y="0"/>
            <a:chExt cx="3175000" cy="127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Request gallery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8572500" y="56673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6191250" y="5191125"/>
            <a:ext cx="2381250" cy="952500"/>
            <a:chOff x="0" y="0"/>
            <a:chExt cx="3175000" cy="127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Query AVAILABLE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2096750" y="56673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715500" y="5191125"/>
            <a:ext cx="2381250" cy="952500"/>
            <a:chOff x="0" y="0"/>
            <a:chExt cx="3175000" cy="127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Set artworks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39750" y="5191125"/>
            <a:ext cx="2381250" cy="952500"/>
            <a:chOff x="0" y="0"/>
            <a:chExt cx="3175000" cy="127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Forward gallery.jsp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0600" y="7286625"/>
            <a:ext cx="1428750" cy="952500"/>
            <a:chOff x="0" y="0"/>
            <a:chExt cx="1905000" cy="127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84667" y="0"/>
                  </a:moveTo>
                  <a:lnTo>
                    <a:pt x="1820333" y="0"/>
                  </a:lnTo>
                  <a:cubicBezTo>
                    <a:pt x="1867093" y="0"/>
                    <a:pt x="1905000" y="37907"/>
                    <a:pt x="1905000" y="84667"/>
                  </a:cubicBezTo>
                  <a:lnTo>
                    <a:pt x="1905000" y="1185333"/>
                  </a:lnTo>
                  <a:cubicBezTo>
                    <a:pt x="1905000" y="1232093"/>
                    <a:pt x="1867093" y="1270000"/>
                    <a:pt x="1820333" y="1270000"/>
                  </a:cubicBezTo>
                  <a:lnTo>
                    <a:pt x="84667" y="1270000"/>
                  </a:lnTo>
                  <a:cubicBezTo>
                    <a:pt x="37907" y="1270000"/>
                    <a:pt x="0" y="1232093"/>
                    <a:pt x="0" y="1185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B9634C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19050"/>
              <a:ext cx="190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FEEDBACK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5048250" y="77628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2667000" y="7286625"/>
            <a:ext cx="2381250" cy="952500"/>
            <a:chOff x="0" y="0"/>
            <a:chExt cx="3175000" cy="1270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Require session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>
            <a:off x="8572500" y="77628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6191250" y="7286625"/>
            <a:ext cx="2381250" cy="952500"/>
            <a:chOff x="0" y="0"/>
            <a:chExt cx="3175000" cy="1270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Validate IDs + 1–5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12096750" y="7762875"/>
            <a:ext cx="1143000" cy="0"/>
          </a:xfrm>
          <a:prstGeom prst="line">
            <a:avLst/>
          </a:prstGeom>
          <a:ln cap="rnd" w="28575">
            <a:solidFill>
              <a:srgbClr val="C9C1B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9715500" y="7286625"/>
            <a:ext cx="2381250" cy="952500"/>
            <a:chOff x="0" y="0"/>
            <a:chExt cx="3175000" cy="1270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Insert via DAO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39750" y="7286625"/>
            <a:ext cx="2381250" cy="952500"/>
            <a:chOff x="0" y="0"/>
            <a:chExt cx="3175000" cy="1270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17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175000">
                  <a:moveTo>
                    <a:pt x="50800" y="0"/>
                  </a:moveTo>
                  <a:lnTo>
                    <a:pt x="3124200" y="0"/>
                  </a:lnTo>
                  <a:cubicBezTo>
                    <a:pt x="3152256" y="0"/>
                    <a:pt x="3175000" y="22744"/>
                    <a:pt x="3175000" y="50800"/>
                  </a:cubicBezTo>
                  <a:lnTo>
                    <a:pt x="3175000" y="1219200"/>
                  </a:lnTo>
                  <a:cubicBezTo>
                    <a:pt x="3175000" y="1247256"/>
                    <a:pt x="3152256" y="1270000"/>
                    <a:pt x="31242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FAF2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19050"/>
              <a:ext cx="3175000" cy="1250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Return to gallery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00075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08  /  SECURITY &amp; RELIABILITY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57300"/>
            <a:ext cx="142875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Good foundations. One critical gap.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952750"/>
            <a:ext cx="8001000" cy="5603716"/>
            <a:chOff x="0" y="0"/>
            <a:chExt cx="10668000" cy="747162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668000" cy="7471622"/>
              <a:chOff x="0" y="0"/>
              <a:chExt cx="10668000" cy="747162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668000" cy="7471621"/>
              </a:xfrm>
              <a:custGeom>
                <a:avLst/>
                <a:gdLst/>
                <a:ahLst/>
                <a:cxnLst/>
                <a:rect r="r" b="b" t="t" l="l"/>
                <a:pathLst>
                  <a:path h="7471621" w="10668000">
                    <a:moveTo>
                      <a:pt x="0" y="0"/>
                    </a:moveTo>
                    <a:lnTo>
                      <a:pt x="10668000" y="0"/>
                    </a:lnTo>
                    <a:lnTo>
                      <a:pt x="10668000" y="7471621"/>
                    </a:lnTo>
                    <a:lnTo>
                      <a:pt x="0" y="7471621"/>
                    </a:lnTo>
                    <a:close/>
                  </a:path>
                </a:pathLst>
              </a:custGeom>
              <a:solidFill>
                <a:srgbClr val="E1EC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668000" cy="75097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84200" y="425450"/>
              <a:ext cx="8255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55F6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VERIFIED PRACTICES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84200" y="1387475"/>
              <a:ext cx="9144000" cy="2725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PreparedStatement limits SQL injection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try-with-resources prevents leaks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Authorization is present on checked routes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Feedback: logged-in user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Artwork upload: session + ARTIST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Checkout: session + ENTHUSIAST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AdminApprovalServlet.doGet(): session + ADMIN</a:t>
              </a:r>
            </a:p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sz="1599" strike="noStrike" u="none">
                  <a:solidFill>
                    <a:srgbClr val="202321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Credentials via ART_DB_USERNAME / PASSWORD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48850" y="2952750"/>
            <a:ext cx="7448550" cy="5628640"/>
            <a:chOff x="0" y="0"/>
            <a:chExt cx="9931400" cy="750485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931400" cy="7504853"/>
              <a:chOff x="0" y="0"/>
              <a:chExt cx="9931400" cy="750485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931400" cy="7504854"/>
              </a:xfrm>
              <a:custGeom>
                <a:avLst/>
                <a:gdLst/>
                <a:ahLst/>
                <a:cxnLst/>
                <a:rect r="r" b="b" t="t" l="l"/>
                <a:pathLst>
                  <a:path h="7504854" w="9931400">
                    <a:moveTo>
                      <a:pt x="0" y="0"/>
                    </a:moveTo>
                    <a:lnTo>
                      <a:pt x="9931400" y="0"/>
                    </a:lnTo>
                    <a:lnTo>
                      <a:pt x="9931400" y="7504854"/>
                    </a:lnTo>
                    <a:lnTo>
                      <a:pt x="0" y="7504854"/>
                    </a:lnTo>
                    <a:close/>
                  </a:path>
                </a:pathLst>
              </a:custGeom>
              <a:solidFill>
                <a:srgbClr val="B963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931400" cy="75429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711200" y="425450"/>
              <a:ext cx="7620000" cy="290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9F4638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SECURITY LIMITATION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11200" y="1504950"/>
              <a:ext cx="7747000" cy="1912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 strike="noStrike" u="none">
                  <a:solidFill>
                    <a:srgbClr val="FFFAF2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Plaintext-password warning remains: LoginServlet compares the submitted password directly with the stored password. No hashing is evidenced.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11200" y="4786842"/>
              <a:ext cx="7747000" cy="101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7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FOLLOW-UP: AdminApprovalServlet.doPost() does not perform an equivalent session/ADMIN authorization check before updating exhibition status.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66750"/>
            <a:ext cx="5238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09  /  TESTING EVIDENCE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52550"/>
            <a:ext cx="15240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FFFAF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Evidence separated by source and test status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8750" y="3314700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b="true" sz="1350" spc="162" strike="noStrike" u="none">
                <a:solidFill>
                  <a:srgbClr val="87BDB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SOURCE-LEVEL EVIDENCE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8750" y="4086225"/>
            <a:ext cx="6191250" cy="354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Login/session routing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Gallery loading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Feedback submission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Artwork upload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Checkout/order handling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Admin approval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OWNER-REPORTED MANUAL STATUS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Owner reports successful application testing; individual workflow results are not independently documented.</a:t>
            </a:r>
          </a:p>
          <a:p>
            <a:pPr algn="l" marL="0" indent="0" lvl="0">
              <a:lnSpc>
                <a:spcPts val="2374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Source implementation is separate from runtime evidence.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0" y="3314700"/>
            <a:ext cx="57150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b="true" sz="1350" spc="162" strike="noStrike" u="non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NOT VERIFIED / UNTESTED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0" y="4067175"/>
            <a:ext cx="657225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Automated tests or CI output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Penetration or security testing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Production deployment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Workflow-by-workflow runtime evidence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934450" y="3143250"/>
            <a:ext cx="28575" cy="4000500"/>
            <a:chOff x="0" y="0"/>
            <a:chExt cx="381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33400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B963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1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24500" y="8153400"/>
            <a:ext cx="72390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D9D2C8"/>
                </a:solidFill>
                <a:latin typeface="IBM Plex Mono"/>
                <a:ea typeface="IBM Plex Mono"/>
                <a:cs typeface="IBM Plex Mono"/>
                <a:sym typeface="IBM Plex Mono"/>
              </a:rPr>
              <a:t>Current confidence: source-level verification + owner-reported application status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FFFAF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571500"/>
            <a:ext cx="523875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B9634C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10  /  REVIEW 1 RUBRIC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209675"/>
            <a:ext cx="142875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800">
                <a:solidFill>
                  <a:srgbClr val="20232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 direct trail from criteria to code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0600" y="2952750"/>
            <a:ext cx="7620000" cy="2333625"/>
            <a:chOff x="0" y="0"/>
            <a:chExt cx="10160000" cy="3111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160000" cy="3111500"/>
              <a:chOff x="0" y="0"/>
              <a:chExt cx="10160000" cy="3111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160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160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06400" y="260350"/>
              <a:ext cx="1524000" cy="109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30"/>
                </a:lnSpc>
              </a:pPr>
              <a:r>
                <a:rPr lang="en-US" sz="4950">
                  <a:solidFill>
                    <a:srgbClr val="B9634C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08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159000" y="444500"/>
              <a:ext cx="7747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Problem Understanding &amp; Solution Design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159000" y="1631950"/>
              <a:ext cx="7747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README problem framing • role routing • LoginServlet.java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2952750"/>
            <a:ext cx="7620000" cy="2333625"/>
            <a:chOff x="0" y="0"/>
            <a:chExt cx="10160000" cy="31115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160000" cy="3111500"/>
              <a:chOff x="0" y="0"/>
              <a:chExt cx="10160000" cy="31115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160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160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06400" y="260350"/>
              <a:ext cx="1524000" cy="109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30"/>
                </a:lnSpc>
              </a:pPr>
              <a:r>
                <a:rPr lang="en-US" sz="4950">
                  <a:solidFill>
                    <a:srgbClr val="155F61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59000" y="444500"/>
              <a:ext cx="7747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Core Java Concepts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159000" y="1631950"/>
              <a:ext cx="7747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Domain objects • interfaces • collections • ValidationUtil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0600" y="5810250"/>
            <a:ext cx="7620000" cy="2333625"/>
            <a:chOff x="0" y="0"/>
            <a:chExt cx="10160000" cy="3111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0160000" cy="3111500"/>
              <a:chOff x="0" y="0"/>
              <a:chExt cx="10160000" cy="3111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160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160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06400" y="260350"/>
              <a:ext cx="1524000" cy="109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30"/>
                </a:lnSpc>
              </a:pPr>
              <a:r>
                <a:rPr lang="en-US" sz="4950">
                  <a:solidFill>
                    <a:srgbClr val="B9634C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08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159000" y="444500"/>
              <a:ext cx="7747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Database Integration (JDBC)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159000" y="1631950"/>
              <a:ext cx="7747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DAO classes • PreparedStatement • DBConnection singleton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0" y="5810250"/>
            <a:ext cx="7620000" cy="2333625"/>
            <a:chOff x="0" y="0"/>
            <a:chExt cx="10160000" cy="3111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160000" cy="3111500"/>
              <a:chOff x="0" y="0"/>
              <a:chExt cx="10160000" cy="3111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1600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AF2"/>
              </a:solidFill>
              <a:ln w="9525" cap="sq">
                <a:solidFill>
                  <a:srgbClr val="C9C1B5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1600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06400" y="260350"/>
              <a:ext cx="1524000" cy="1096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30"/>
                </a:lnSpc>
              </a:pPr>
              <a:r>
                <a:rPr lang="en-US" sz="4950">
                  <a:solidFill>
                    <a:srgbClr val="155F61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07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59000" y="444500"/>
              <a:ext cx="7747000" cy="472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true">
                  <a:solidFill>
                    <a:srgbClr val="202321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Servlets &amp; Web Integration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159000" y="1631950"/>
              <a:ext cx="7747000" cy="323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746F67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LoginServlet • GalleryServlet • FeedbackServlet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746F67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746F6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11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" r="0" b="-3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7905750" y="790575"/>
            <a:ext cx="4762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11  / 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05750" y="1552575"/>
            <a:ext cx="8572500" cy="141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>
                <a:solidFill>
                  <a:srgbClr val="FFFAF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 credible foundation—ready to become complete.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05750" y="3971925"/>
            <a:ext cx="8096250" cy="687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>
                <a:solidFill>
                  <a:srgbClr val="D9D2C8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Role-based access, MVC structure, validated input, and JDBC integration establish the core platform.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5750" y="5591175"/>
            <a:ext cx="59055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b="true" sz="1599" spc="127" strike="noStrike" u="none">
                <a:solidFill>
                  <a:srgbClr val="87BDB4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NEXT / VERIFICATION +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5750" y="6372225"/>
            <a:ext cx="8096250" cy="282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Runtime verification: artwork upload</a:t>
            </a:r>
          </a:p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Runtime verification: checkout/order flow</a:t>
            </a:r>
          </a:p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Runtime verification: admin approval</a:t>
            </a:r>
          </a:p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Future work: payment integration (not evidenced in reviewed source)</a:t>
            </a:r>
          </a:p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Future work: password hashing, HTTPS, sanitization</a:t>
            </a:r>
          </a:p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Future work: automated tests + CI pipeline</a:t>
            </a:r>
          </a:p>
          <a:p>
            <a:pPr algn="l" marL="0" indent="0" lvl="0">
              <a:lnSpc>
                <a:spcPts val="2806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FFFAF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Future work: Admin approval POST authorization check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5750" y="9557708"/>
            <a:ext cx="5116694" cy="30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310" b="true">
                <a:solidFill>
                  <a:srgbClr val="D88A7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0600" y="9782175"/>
            <a:ext cx="16306800" cy="179070"/>
            <a:chOff x="0" y="0"/>
            <a:chExt cx="21742400" cy="2387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5334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68" b="true">
                  <a:solidFill>
                    <a:srgbClr val="FFFAF2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TOPIC 27  /  REVIEW 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0777200" y="-19050"/>
              <a:ext cx="9652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sz="1200">
                  <a:solidFill>
                    <a:srgbClr val="FFFAF2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12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DAHXVjxSiQ4</dc:identifier>
  <dcterms:modified xsi:type="dcterms:W3CDTF">2011-08-01T06:04:30Z</dcterms:modified>
  <cp:revision>1</cp:revision>
  <dc:title>online-art-exhibition-platform-presentation-final</dc:title>
</cp:coreProperties>
</file>